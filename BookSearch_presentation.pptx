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BOOKSEARCH · GUTENBERG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1ECDC"/>
                </a:solidFill>
              </a:rPr>
              <a:t>Find a Book by its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AAB0C4"/>
                </a:solidFill>
              </a:rPr>
              <a:t>A search engine based on TF-IDF and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9A227"/>
                </a:solidFill>
              </a:rPr>
              <a:t>PySpark  ·  MongoDB  ·  Flask  ·  Docker          Big Data — Exam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Finding a book when all you remember is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The user describes a plot in natural language: </a:t>
            </a:r>
            <a:r>
              <a:rPr sz="1700" b="1">
                <a:solidFill>
                  <a:srgbClr val="C9A227"/>
                </a:solidFill>
              </a:rPr>
              <a:t>“a sailor stranded on a desert island”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No exact title or keyword match available: we need a </a:t>
            </a:r>
            <a:r>
              <a:rPr sz="1700" b="1">
                <a:solidFill>
                  <a:srgbClr val="C9A227"/>
                </a:solidFill>
              </a:rPr>
              <a:t>similarity measure</a:t>
            </a:r>
            <a:r>
              <a:rPr sz="1700" b="0">
                <a:solidFill>
                  <a:srgbClr val="F1ECDC"/>
                </a:solidFill>
              </a:rPr>
              <a:t> between texts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Approach: books and query represented in the </a:t>
            </a:r>
            <a:r>
              <a:rPr sz="1700" b="1">
                <a:solidFill>
                  <a:srgbClr val="C9A227"/>
                </a:solidFill>
              </a:rPr>
              <a:t>same TF-IDF vector space</a:t>
            </a:r>
            <a:r>
              <a:rPr sz="1700" b="0">
                <a:solidFill>
                  <a:srgbClr val="F1ECDC"/>
                </a:solidFill>
              </a:rPr>
              <a:t>, ranked by </a:t>
            </a:r>
            <a:r>
              <a:rPr sz="1700" b="1">
                <a:solidFill>
                  <a:srgbClr val="C9A227"/>
                </a:solidFill>
              </a:rPr>
              <a:t>cosine similarity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Corpus: </a:t>
            </a:r>
            <a:r>
              <a:rPr sz="1700" b="1">
                <a:solidFill>
                  <a:srgbClr val="C9A227"/>
                </a:solidFill>
              </a:rPr>
              <a:t>Project Gutenberg</a:t>
            </a:r>
            <a:r>
              <a:rPr sz="1700" b="0">
                <a:solidFill>
                  <a:srgbClr val="F1ECDC"/>
                </a:solidFill>
              </a:rPr>
              <a:t> books in three catalogs — </a:t>
            </a:r>
            <a:r>
              <a:rPr sz="1700" b="1">
                <a:solidFill>
                  <a:srgbClr val="C9A227"/>
                </a:solidFill>
              </a:rPr>
              <a:t>478 / 1,939 / 4,851</a:t>
            </a:r>
            <a:r>
              <a:rPr sz="1700" b="0">
                <a:solidFill>
                  <a:srgbClr val="F1ECDC"/>
                </a:solidFill>
              </a:rPr>
              <a:t> books — to study scalability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Project constraint: </a:t>
            </a:r>
            <a:r>
              <a:rPr sz="1700" b="1">
                <a:solidFill>
                  <a:srgbClr val="C9A227"/>
                </a:solidFill>
              </a:rPr>
              <a:t>Big Data</a:t>
            </a:r>
            <a:r>
              <a:rPr sz="1700" b="0">
                <a:solidFill>
                  <a:srgbClr val="F1ECDC"/>
                </a:solidFill>
              </a:rPr>
              <a:t> technologies — PySpark for computation, MongoDB for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Offline indexing, online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9A227"/>
                </a:solidFill>
              </a:rPr>
              <a:t>OFFLINE PHASE — run once, locally (seed_datasets.py)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108960" cy="105156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1ECDC"/>
                </a:solidFill>
              </a:rPr>
              <a:t>Gutenberg CSVs</a:t>
            </a:r>
          </a:p>
          <a:p>
            <a:pPr algn="ctr"/>
            <a:r>
              <a:rPr sz="1300" b="0">
                <a:solidFill>
                  <a:srgbClr val="AAB0C4"/>
                </a:solidFill>
              </a:rPr>
              <a:t>3 datasets, full texts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108960" cy="105156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1ECDC"/>
                </a:solidFill>
              </a:rPr>
              <a:t>Spark: NLP + TF-IDF</a:t>
            </a:r>
          </a:p>
          <a:p>
            <a:pPr algn="ctr"/>
            <a:r>
              <a:rPr sz="1300" b="0">
                <a:solidFill>
                  <a:srgbClr val="AAB0C4"/>
                </a:solidFill>
              </a:rPr>
              <a:t>tokenize · stopwords · stemming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011680"/>
            <a:ext cx="3291840" cy="105156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1ECDC"/>
                </a:solidFill>
              </a:rPr>
              <a:t>MongoDB + IDF models</a:t>
            </a:r>
          </a:p>
          <a:p>
            <a:pPr algn="ctr"/>
            <a:r>
              <a:rPr sz="1300" b="0">
                <a:solidFill>
                  <a:srgbClr val="AAB0C4"/>
                </a:solidFill>
              </a:rPr>
              <a:t>books_tfidf_{size} · idf_model/{size}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542032"/>
            <a:ext cx="777240" cy="0"/>
          </a:xfrm>
          <a:prstGeom prst="line">
            <a:avLst/>
          </a:prstGeom>
          <a:ln w="2857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2542032"/>
            <a:ext cx="777240" cy="0"/>
          </a:xfrm>
          <a:prstGeom prst="line">
            <a:avLst/>
          </a:prstGeom>
          <a:ln w="2857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9A227"/>
                </a:solidFill>
              </a:rPr>
              <a:t>ONLINE PHASE — Docker Compose, instant startup (no recomputation)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3108960" cy="105156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1ECDC"/>
                </a:solidFill>
              </a:rPr>
              <a:t>Frontend — nginx :80</a:t>
            </a:r>
          </a:p>
          <a:p>
            <a:pPr algn="ctr"/>
            <a:r>
              <a:rPr sz="1300" b="0">
                <a:solidFill>
                  <a:srgbClr val="AAB0C4"/>
                </a:solidFill>
              </a:rPr>
              <a:t>catalog selector 500/2000/5000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977639"/>
            <a:ext cx="3108960" cy="105156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1ECDC"/>
                </a:solidFill>
              </a:rPr>
              <a:t>Backend — Flask + Spark :5000</a:t>
            </a:r>
          </a:p>
          <a:p>
            <a:pPr algn="ctr"/>
            <a:r>
              <a:rPr sz="1300" b="0">
                <a:solidFill>
                  <a:srgbClr val="AAB0C4"/>
                </a:solidFill>
              </a:rPr>
              <a:t>lazy load + per-catalog cache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977639"/>
            <a:ext cx="3291840" cy="105156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1ECDC"/>
                </a:solidFill>
              </a:rPr>
              <a:t>MongoDB :27017</a:t>
            </a:r>
          </a:p>
          <a:p>
            <a:pPr algn="ctr"/>
            <a:r>
              <a:rPr sz="1300" b="0">
                <a:solidFill>
                  <a:srgbClr val="AAB0C4"/>
                </a:solidFill>
              </a:rPr>
              <a:t>persistent volume mongo-data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4507992"/>
            <a:ext cx="777240" cy="0"/>
          </a:xfrm>
          <a:prstGeom prst="line">
            <a:avLst/>
          </a:prstGeom>
          <a:ln w="2857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4507992"/>
            <a:ext cx="777240" cy="0"/>
          </a:xfrm>
          <a:prstGeom prst="line">
            <a:avLst/>
          </a:prstGeom>
          <a:ln w="2857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3949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The heavy computation happens </a:t>
            </a:r>
            <a:r>
              <a:rPr sz="1500" b="1">
                <a:solidFill>
                  <a:srgbClr val="C9A227"/>
                </a:solidFill>
              </a:rPr>
              <a:t>exactly once</a:t>
            </a:r>
            <a:r>
              <a:rPr sz="1500" b="0">
                <a:solidFill>
                  <a:srgbClr val="F1ECDC"/>
                </a:solidFill>
              </a:rPr>
              <a:t>: containers mount ready-made data and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Who does what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229600"/>
              </a:tblGrid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9A227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A227"/>
                          </a:solidFill>
                        </a:rPr>
                        <a:t>Role in the project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PySpark 3.5 + MLlib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Distributed computing: NLP pipeline, HashingTF/IDF, cosine similarity as a UDF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MongoDB 7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Document store for sparse vectors (parallel index/value arrays); Spark connector v10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NLTK (Snowball)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English stemming of tokens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Flask + CORS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REST API: /api/search, /api/health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74765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nginx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Static frontend (HTML + vanilla JS)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7477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Docker Compose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Orchestration of the 3 services, internal network, persistent volume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OFFLINE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The indexing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1.</a:t>
            </a:r>
            <a:r>
              <a:rPr sz="1700" b="0">
                <a:solidFill>
                  <a:srgbClr val="F1ECDC"/>
                </a:solidFill>
              </a:rPr>
              <a:t> CSV → MongoDB in chunks (pymongo): the full file never sits in RAM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2.</a:t>
            </a:r>
            <a:r>
              <a:rPr sz="1700" b="0">
                <a:solidFill>
                  <a:srgbClr val="F1ECDC"/>
                </a:solidFill>
              </a:rPr>
              <a:t> Spark reads the collection and applies the NLP pipeline:</a:t>
            </a:r>
          </a:p>
          <a:p>
            <a:pPr lvl="1">
              <a:spcAft>
                <a:spcPts val="500"/>
              </a:spcAft>
            </a:pPr>
            <a:r>
              <a:rPr sz="1500" b="0">
                <a:solidFill>
                  <a:srgbClr val="AAB0C4"/>
                </a:solidFill>
              </a:rPr>
              <a:t>lowercase → strip non-letters → Tokenizer → StopWordsRemover → stemming via pandas UDF (batched through Apache Arrow)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3.</a:t>
            </a:r>
            <a:r>
              <a:rPr sz="1700" b="0">
                <a:solidFill>
                  <a:srgbClr val="F1ECDC"/>
                </a:solidFill>
              </a:rPr>
              <a:t> HashingTF: 100,000 features via the </a:t>
            </a:r>
            <a:r>
              <a:rPr sz="1700" b="1">
                <a:solidFill>
                  <a:srgbClr val="C9A227"/>
                </a:solidFill>
              </a:rPr>
              <a:t>hashing trick</a:t>
            </a:r>
            <a:r>
              <a:rPr sz="1700" b="0">
                <a:solidFill>
                  <a:srgbClr val="F1ECDC"/>
                </a:solidFill>
              </a:rPr>
              <a:t> (no vocabulary to build or ship)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4.</a:t>
            </a:r>
            <a:r>
              <a:rPr sz="1700" b="0">
                <a:solidFill>
                  <a:srgbClr val="F1ECDC"/>
                </a:solidFill>
              </a:rPr>
              <a:t> IDF.fit on the corpus → </a:t>
            </a:r>
            <a:r>
              <a:rPr sz="1700" b="1">
                <a:solidFill>
                  <a:srgbClr val="C9A227"/>
                </a:solidFill>
              </a:rPr>
              <a:t>IDFModel saved</a:t>
            </a:r>
            <a:r>
              <a:rPr sz="1700" b="0">
                <a:solidFill>
                  <a:srgbClr val="F1ECDC"/>
                </a:solidFill>
              </a:rPr>
              <a:t> to idf_model/{size} — later used to vectorize queries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5.</a:t>
            </a:r>
            <a:r>
              <a:rPr sz="1700" b="0">
                <a:solidFill>
                  <a:srgbClr val="F1ECDC"/>
                </a:solidFill>
              </a:rPr>
              <a:t> Results written with </a:t>
            </a:r>
            <a:r>
              <a:rPr sz="1700" b="1">
                <a:solidFill>
                  <a:srgbClr val="C9A227"/>
                </a:solidFill>
              </a:rPr>
              <a:t>toLocalIterator</a:t>
            </a:r>
            <a:r>
              <a:rPr sz="1700" b="0">
                <a:solidFill>
                  <a:srgbClr val="F1ECDC"/>
                </a:solidFill>
              </a:rPr>
              <a:t> in batches: one partition at a time on the driver (collect() caused OOM)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One IDF model </a:t>
            </a:r>
            <a:r>
              <a:rPr sz="1700" b="1">
                <a:solidFill>
                  <a:srgbClr val="C9A227"/>
                </a:solidFill>
              </a:rPr>
              <a:t>per catalog</a:t>
            </a:r>
            <a:r>
              <a:rPr sz="1700" b="0">
                <a:solidFill>
                  <a:srgbClr val="F1ECDC"/>
                </a:solidFill>
              </a:rPr>
              <a:t>: weights depend on the corpus; model and collection come from the same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TF-IDF and cosine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TF(t,d)</a:t>
            </a:r>
            <a:r>
              <a:rPr sz="1700" b="0">
                <a:solidFill>
                  <a:srgbClr val="F1ECDC"/>
                </a:solidFill>
              </a:rPr>
              <a:t> = occurrences of term t in document d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IDF(t) = ln( (N+1) / (df(t)+1) )</a:t>
            </a:r>
            <a:r>
              <a:rPr sz="1700" b="0">
                <a:solidFill>
                  <a:srgbClr val="F1ECDC"/>
                </a:solidFill>
              </a:rPr>
              <a:t>   — df(t) = number of documents containing t (Spark's formula)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High weight ⇔ term </a:t>
            </a:r>
            <a:r>
              <a:rPr sz="1700" b="1">
                <a:solidFill>
                  <a:srgbClr val="C9A227"/>
                </a:solidFill>
              </a:rPr>
              <a:t>frequent in the book</a:t>
            </a:r>
            <a:r>
              <a:rPr sz="1700" b="0">
                <a:solidFill>
                  <a:srgbClr val="F1ECDC"/>
                </a:solidFill>
              </a:rPr>
              <a:t> but </a:t>
            </a:r>
            <a:r>
              <a:rPr sz="1700" b="1">
                <a:solidFill>
                  <a:srgbClr val="C9A227"/>
                </a:solidFill>
              </a:rPr>
              <a:t>rare in the corpus</a:t>
            </a:r>
            <a:r>
              <a:rPr sz="1700" b="0">
                <a:solidFill>
                  <a:srgbClr val="F1ECDC"/>
                </a:solidFill>
              </a:rPr>
              <a:t> (“whale” matters, “time” doesn't)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Each book → a </a:t>
            </a:r>
            <a:r>
              <a:rPr sz="1700" b="1">
                <a:solidFill>
                  <a:srgbClr val="C9A227"/>
                </a:solidFill>
              </a:rPr>
              <a:t>sparse vector</a:t>
            </a:r>
            <a:r>
              <a:rPr sz="1700" b="0">
                <a:solidFill>
                  <a:srgbClr val="F1ECDC"/>
                </a:solidFill>
              </a:rPr>
              <a:t> in 100,000 dimensions: only (index, value) pairs are stored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572000"/>
            <a:ext cx="11064240" cy="137160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1ECDC"/>
                </a:solidFill>
              </a:rPr>
              <a:t>cos(q, d)  =  q · d  /  ( ‖q‖ · ‖d‖ )</a:t>
            </a:r>
          </a:p>
          <a:p>
            <a:pPr algn="ctr"/>
            <a:r>
              <a:rPr sz="1500" b="0">
                <a:solidFill>
                  <a:srgbClr val="AAB0C4"/>
                </a:solidFill>
              </a:rPr>
              <a:t>measures the angle between vectors — length-independent: an 800-page book and a 10-word query are comparable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ONLINE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The journey of a search (~1 s with warm cache)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1.</a:t>
            </a:r>
            <a:r>
              <a:rPr sz="1700" b="0">
                <a:solidFill>
                  <a:srgbClr val="F1ECDC"/>
                </a:solidFill>
              </a:rPr>
              <a:t> The query goes through the </a:t>
            </a:r>
            <a:r>
              <a:rPr sz="1700" b="1">
                <a:solidFill>
                  <a:srgbClr val="C9A227"/>
                </a:solidFill>
              </a:rPr>
              <a:t>exact same pipeline</a:t>
            </a:r>
            <a:r>
              <a:rPr sz="1700" b="0">
                <a:solidFill>
                  <a:srgbClr val="F1ECDC"/>
                </a:solidFill>
              </a:rPr>
              <a:t> as the index (regex, stopwords, stemming)</a:t>
            </a:r>
          </a:p>
          <a:p>
            <a:pPr lvl="1">
              <a:spcAft>
                <a:spcPts val="500"/>
              </a:spcAft>
            </a:pPr>
            <a:r>
              <a:rPr sz="1500" b="0">
                <a:solidFill>
                  <a:srgbClr val="AAB0C4"/>
                </a:solidFill>
              </a:rPr>
              <a:t>same hash space and same IDF weights — otherwise similarities would be silently wrong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2.</a:t>
            </a:r>
            <a:r>
              <a:rPr sz="1700" b="0">
                <a:solidFill>
                  <a:srgbClr val="F1ECDC"/>
                </a:solidFill>
              </a:rPr>
              <a:t> HashingTF + saved IDFModel → sparse query vector (index → weight dictionary)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3.</a:t>
            </a:r>
            <a:r>
              <a:rPr sz="1700" b="0">
                <a:solidFill>
                  <a:srgbClr val="F1ECDC"/>
                </a:solidFill>
              </a:rPr>
              <a:t> The vector is </a:t>
            </a:r>
            <a:r>
              <a:rPr sz="1700" b="1">
                <a:solidFill>
                  <a:srgbClr val="C9A227"/>
                </a:solidFill>
              </a:rPr>
              <a:t>broadcast</a:t>
            </a:r>
            <a:r>
              <a:rPr sz="1700" b="0">
                <a:solidFill>
                  <a:srgbClr val="F1ECDC"/>
                </a:solidFill>
              </a:rPr>
              <a:t> to the executors: shipped once, not inside every task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4.</a:t>
            </a:r>
            <a:r>
              <a:rPr sz="1700" b="0">
                <a:solidFill>
                  <a:srgbClr val="F1ECDC"/>
                </a:solidFill>
              </a:rPr>
              <a:t> A </a:t>
            </a:r>
            <a:r>
              <a:rPr sz="1700" b="1">
                <a:solidFill>
                  <a:srgbClr val="C9A227"/>
                </a:solidFill>
              </a:rPr>
              <a:t>distributed UDF</a:t>
            </a:r>
            <a:r>
              <a:rPr sz="1700" b="0">
                <a:solidFill>
                  <a:srgbClr val="F1ECDC"/>
                </a:solidFill>
              </a:rPr>
              <a:t> computes cosine similarity for every book (query norm precomputed)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5.</a:t>
            </a:r>
            <a:r>
              <a:rPr sz="1700" b="0">
                <a:solidFill>
                  <a:srgbClr val="F1ECDC"/>
                </a:solidFill>
              </a:rPr>
              <a:t> orderBy + limit: only the </a:t>
            </a:r>
            <a:r>
              <a:rPr sz="1700" b="1">
                <a:solidFill>
                  <a:srgbClr val="C9A227"/>
                </a:solidFill>
              </a:rPr>
              <a:t>top 10</a:t>
            </a:r>
            <a:r>
              <a:rPr sz="1700" b="0">
                <a:solidFill>
                  <a:srgbClr val="F1ECDC"/>
                </a:solidFill>
              </a:rPr>
              <a:t> reach the driver → JSON API → frontend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First access to a catalog: </a:t>
            </a:r>
            <a:r>
              <a:rPr sz="1700" b="1">
                <a:solidFill>
                  <a:srgbClr val="C9A227"/>
                </a:solidFill>
              </a:rPr>
              <a:t>lazy load</a:t>
            </a:r>
            <a:r>
              <a:rPr sz="1700" b="0">
                <a:solidFill>
                  <a:srgbClr val="F1ECDC"/>
                </a:solidFill>
              </a:rPr>
              <a:t> (Mongo read + Spark cache), then it stays in 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Design choices and rationale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498079"/>
              </a:tblGrid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9A227"/>
                          </a:solidFill>
                        </a:rPr>
                        <a:t>Choice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9A227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1ECDC"/>
                          </a:solidFill>
                        </a:rPr>
                        <a:t>Offline seeding, not at startup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ECDC"/>
                          </a:solidFill>
                        </a:rPr>
                        <a:t>Tens of minutes of computation → done once; instant Docker startup, data in the volume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1ECDC"/>
                          </a:solidFill>
                        </a:rPr>
                        <a:t>HashingTF vs CountVectorizer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ECDC"/>
                          </a:solidFill>
                        </a:rPr>
                        <a:t>No vocabulary to build/ship; fixed memory; cost: collisions (acceptable at 100k features)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1ECDC"/>
                          </a:solidFill>
                        </a:rPr>
                        <a:t>One IDFModel per catalog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ECDC"/>
                          </a:solidFill>
                        </a:rPr>
                        <a:t>IDF weights depend on the corpus: 478 vs 4,851 books yield different statistics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1ECDC"/>
                          </a:solidFill>
                        </a:rPr>
                        <a:t>Vectors = 2 parallel arrays in Mongo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ECDC"/>
                          </a:solidFill>
                        </a:rPr>
                        <a:t>BSON cannot serialize Spark vectors; indices+values is the minimal sparse form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1ECDC"/>
                          </a:solidFill>
                        </a:rPr>
                        <a:t>Lazy loading of catalogs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ECDC"/>
                          </a:solidFill>
                        </a:rPr>
                        <a:t>Caching all three at once would exhaust the driver's RAM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F1ECDC"/>
                          </a:solidFill>
                        </a:rPr>
                        <a:t>Broadcasting the query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F1ECDC"/>
                          </a:solidFill>
                        </a:rPr>
                        <a:t>The query ships once per executor instead of inside every task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EXPERIMENTS ·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Scalability: 12 queries × 3 repetitions per catalog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3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657600"/>
                <a:gridCol w="374903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9A227"/>
                          </a:solidFill>
                        </a:rPr>
                        <a:t>Catalog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A227"/>
                          </a:solidFill>
                        </a:rPr>
                        <a:t>Books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A227"/>
                          </a:solidFill>
                        </a:rPr>
                        <a:t>First query (cold cache)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A227"/>
                          </a:solidFill>
                        </a:rPr>
                        <a:t>Warm (mean ± std dev)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478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5.96 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0.81 s ± 0.36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2000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1,939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4.97 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1.34 s ± 0.48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5000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4,851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6.07 s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1.32 s ± 0.38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C9A227"/>
                </a:solidFill>
              </a:rPr>
              <a:t>Sublinear</a:t>
            </a:r>
            <a:r>
              <a:rPr sz="1500" b="0">
                <a:solidFill>
                  <a:srgbClr val="F1ECDC"/>
                </a:solidFill>
              </a:rPr>
              <a:t> growth: 10× the books → response time not even doubled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At this scale the </a:t>
            </a:r>
            <a:r>
              <a:rPr sz="1500" b="1">
                <a:solidFill>
                  <a:srgbClr val="C9A227"/>
                </a:solidFill>
              </a:rPr>
              <a:t>fixed per-query overhead</a:t>
            </a:r>
            <a:r>
              <a:rPr sz="1500" b="0">
                <a:solidFill>
                  <a:srgbClr val="F1ECDC"/>
                </a:solidFill>
              </a:rPr>
              <a:t> dominates (query vectorization, Spark scheduling), not the vector scan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The scan is distributed across partitions: on much larger corpora it would scale </a:t>
            </a:r>
            <a:r>
              <a:rPr sz="1500" b="1">
                <a:solidFill>
                  <a:srgbClr val="C9A227"/>
                </a:solidFill>
              </a:rPr>
              <a:t>horizontally</a:t>
            </a:r>
            <a:r>
              <a:rPr sz="1500" b="0">
                <a:solidFill>
                  <a:srgbClr val="F1ECDC"/>
                </a:solidFill>
              </a:rPr>
              <a:t> by adding executors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Cold cache ≈ constant: Mongo read + cache materialization, paid once per catalog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EXPERIMENTS ·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Quality: self-retrieval (an excerpt must find its own book)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C9A227"/>
                          </a:solidFill>
                        </a:rPr>
                        <a:t>Catalog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A227"/>
                          </a:solidFill>
                        </a:rPr>
                        <a:t>Top-1 @ 50 words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A227"/>
                          </a:solidFill>
                        </a:rPr>
                        <a:t>Top-1 @ 200 words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9A227"/>
                          </a:solidFill>
                        </a:rPr>
                        <a:t>Top-1 @ 1000 words</a:t>
                      </a:r>
                    </a:p>
                  </a:txBody>
                  <a:tcPr>
                    <a:solidFill>
                      <a:srgbClr val="1C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500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2000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F1ECDC"/>
                          </a:solidFill>
                        </a:rPr>
                        <a:t>5000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80%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F1ECDC"/>
                          </a:solidFill>
                        </a:rPr>
                        <a:t>90%</a:t>
                      </a:r>
                    </a:p>
                  </a:txBody>
                  <a:tcPr>
                    <a:solidFill>
                      <a:srgbClr val="12192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10 books sampled per catalog, excerpts taken from the </a:t>
            </a:r>
            <a:r>
              <a:rPr sz="1500" b="1">
                <a:solidFill>
                  <a:srgbClr val="C9A227"/>
                </a:solidFill>
              </a:rPr>
              <a:t>middle</a:t>
            </a:r>
            <a:r>
              <a:rPr sz="1500" b="0">
                <a:solidFill>
                  <a:srgbClr val="F1ECDC"/>
                </a:solidFill>
              </a:rPr>
              <a:t> of the text (avoiding the Gutenberg header)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Quality </a:t>
            </a:r>
            <a:r>
              <a:rPr sz="1500" b="1">
                <a:solidFill>
                  <a:srgbClr val="C9A227"/>
                </a:solidFill>
              </a:rPr>
              <a:t>improves with query length</a:t>
            </a:r>
            <a:r>
              <a:rPr sz="1500" b="0">
                <a:solidFill>
                  <a:srgbClr val="F1ECDC"/>
                </a:solidFill>
              </a:rPr>
              <a:t> and </a:t>
            </a:r>
            <a:r>
              <a:rPr sz="1500" b="1">
                <a:solidFill>
                  <a:srgbClr val="C9A227"/>
                </a:solidFill>
              </a:rPr>
              <a:t>degrades with corpus size</a:t>
            </a:r>
            <a:r>
              <a:rPr sz="1500" b="0">
                <a:solidFill>
                  <a:srgbClr val="F1ECDC"/>
                </a:solidFill>
              </a:rPr>
              <a:t> (more distractors)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Recall@5 ≥ 90% almost everywhere; with 1000-word excerpts MRR ≥ 0.95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F1ECDC"/>
                </a:solidFill>
              </a:rPr>
              <a:t>• Systematic failures: </a:t>
            </a:r>
            <a:r>
              <a:rPr sz="1500" b="1">
                <a:solidFill>
                  <a:srgbClr val="C9A227"/>
                </a:solidFill>
              </a:rPr>
              <a:t>non-English books</a:t>
            </a:r>
            <a:r>
              <a:rPr sz="1500" b="0">
                <a:solidFill>
                  <a:srgbClr val="F1ECDC"/>
                </a:solidFill>
              </a:rPr>
              <a:t> (Sand in French, Luther's hymns in German) — the pipeline is English-only: a limitation documented experimentally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9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9A227"/>
                </a:solidFill>
                <a:latin typeface="Consolas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1ECDC"/>
                </a:solidFill>
              </a:rPr>
              <a:t>Known 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Bag-of-words</a:t>
            </a:r>
            <a:r>
              <a:rPr sz="1700" b="0">
                <a:solidFill>
                  <a:srgbClr val="F1ECDC"/>
                </a:solidFill>
              </a:rPr>
              <a:t>: no synonyms or semantics (“ship” ≠ “vessel”) → evolution: dense embeddings + a vector index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English-only</a:t>
            </a:r>
            <a:r>
              <a:rPr sz="1700" b="0">
                <a:solidFill>
                  <a:srgbClr val="F1ECDC"/>
                </a:solidFill>
              </a:rPr>
              <a:t> pipeline → detect the language and use dedicated stopwords/stemmers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Single-node deployment (Spark local[*], single Mongo) → same code on a </a:t>
            </a:r>
            <a:r>
              <a:rPr sz="1700" b="1">
                <a:solidFill>
                  <a:srgbClr val="C9A227"/>
                </a:solidFill>
              </a:rPr>
              <a:t>cluster</a:t>
            </a:r>
            <a:r>
              <a:rPr sz="1700" b="0">
                <a:solidFill>
                  <a:srgbClr val="F1ECDC"/>
                </a:solidFill>
              </a:rPr>
              <a:t> + Mongo </a:t>
            </a:r>
            <a:r>
              <a:rPr sz="1700" b="1">
                <a:solidFill>
                  <a:srgbClr val="C9A227"/>
                </a:solidFill>
              </a:rPr>
              <a:t>sharding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F1ECDC"/>
                </a:solidFill>
              </a:rPr>
              <a:t>• Ranking improvements: </a:t>
            </a:r>
            <a:r>
              <a:rPr sz="1700" b="1">
                <a:solidFill>
                  <a:srgbClr val="C9A227"/>
                </a:solidFill>
              </a:rPr>
              <a:t>sublinear TF</a:t>
            </a:r>
            <a:r>
              <a:rPr sz="1700" b="0">
                <a:solidFill>
                  <a:srgbClr val="F1ECDC"/>
                </a:solidFill>
              </a:rPr>
              <a:t> log(1+tf), book norms precomputed at seeding time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9A227"/>
                </a:solidFill>
              </a:rPr>
              <a:t>In short</a:t>
            </a:r>
            <a:r>
              <a:rPr sz="1700" b="0">
                <a:solidFill>
                  <a:srgbClr val="F1ECDC"/>
                </a:solidFill>
              </a:rPr>
              <a:t>: an offline/online architecture scalable by design, correctness and performance </a:t>
            </a:r>
            <a:r>
              <a:rPr sz="1700" b="1">
                <a:solidFill>
                  <a:srgbClr val="C9A227"/>
                </a:solidFill>
              </a:rPr>
              <a:t>measured experimentally</a:t>
            </a:r>
            <a:r>
              <a:rPr sz="1700" b="0">
                <a:solidFill>
                  <a:srgbClr val="F1ECDC"/>
                </a:solidFill>
              </a:rPr>
              <a:t>, limitations known and discussed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